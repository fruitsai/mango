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11018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1101852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1914"/>
                </a:solidFill>
                <a:latin typeface="Aptos"/>
              </a:rPr>
              <a:t>Mango 架构与研发现状汇报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965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F43"/>
                </a:solidFill>
                <a:latin typeface="Aptos"/>
              </a:rPr>
              <a:t>团队内部研发汇报 · 基于 codex-mango-v1 当前实现与文档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7432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914"/>
                </a:solidFill>
                <a:latin typeface="Aptos"/>
              </a:rPr>
              <a:t>核心结论：
Mango 已完成桌面端 Agent 工作台骨架，主闭环已打通，当前重点从“能跑”进入“真实可用”阶段。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2" y="1463040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A623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1892808"/>
            <a:ext cx="996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主流程阶段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3258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5752" y="1463040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A623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1892808"/>
            <a:ext cx="996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核心共享包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6974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2834640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A62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3264408"/>
            <a:ext cx="996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当前可用 Adapter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69748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2834640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A623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3264408"/>
            <a:ext cx="996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正式主存储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51960"/>
            <a:ext cx="310896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200">
                <a:solidFill>
                  <a:srgbClr val="201914"/>
                </a:solidFill>
                <a:latin typeface="Aptos"/>
              </a:rPr>
              <a:t>• 桌面端本地执行优先</a:t>
            </a:r>
          </a:p>
          <a:p>
            <a:pPr algn="l"/>
            <a:r>
              <a:rPr sz="1200">
                <a:solidFill>
                  <a:srgbClr val="201914"/>
                </a:solidFill>
                <a:latin typeface="Aptos"/>
              </a:rPr>
              <a:t>• Plan -&gt; Approve -&gt; Go -&gt; Review</a:t>
            </a:r>
          </a:p>
          <a:p>
            <a:pPr algn="l"/>
            <a:r>
              <a:rPr sz="1200">
                <a:solidFill>
                  <a:srgbClr val="201914"/>
                </a:solidFill>
                <a:latin typeface="Aptos"/>
              </a:rPr>
              <a:t>• SQLite 主存储已落地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Mango · Internal Engineering Report · 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1. 项目定位与当前判断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先用一页把“我们现在到底做到哪”讲清楚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20040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面向开发者的桌面端 Agent 工作台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不是聊天产品，而是执行产品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强调可控、可信、可追踪、可复盘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7472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当前阶段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01952"/>
            <a:ext cx="320040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M1 可运行骨架已完成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M2 真实执行闭环正在形成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核心主链路已可本地验证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4630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3" y="1463040"/>
            <a:ext cx="347472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本轮判断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3" y="1901952"/>
            <a:ext cx="320040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架构边界清楚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真实 CLI 接入已开始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执行深度和控制精度仍需增强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362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862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F43"/>
                </a:solidFill>
                <a:latin typeface="Aptos"/>
              </a:rPr>
              <a:t>一句话结论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01914"/>
                </a:solidFill>
                <a:latin typeface="Aptos"/>
              </a:rPr>
              <a:t>Mango 已不再是纯规划项目，而是一套具备桌面壳、领域模型、IPC 契约、适配器层、SQLite 主存储和基础质量门禁的可演进架构骨架；但它仍需继续补强真实执行事件、细粒度权限控制、恢复重试和更强的回顾能力，才能从“骨架可跑”进入“团队可用 / Beta 可试用”。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README / PRD / 路线图 / 详细架构设计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2. 当前整体架构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仓库分层 + 运行时分层同时存在，核心是边界清楚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920240" cy="914400"/>
          </a:xfrm>
          <a:prstGeom prst="roundRect">
            <a:avLst/>
          </a:prstGeom>
          <a:solidFill>
            <a:srgbClr val="FFEFD5"/>
          </a:solidFill>
          <a:ln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914"/>
                </a:solidFill>
                <a:latin typeface="Aptos Display"/>
              </a:rPr>
              <a:t>apps/desktop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当前唯一完整运行入口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057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21284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914"/>
                </a:solidFill>
                <a:latin typeface="Aptos Display"/>
              </a:rPr>
              <a:t>packages/core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306324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4F43"/>
                </a:solidFill>
                <a:latin typeface="Aptos"/>
              </a:rPr>
              <a:t>状态机 / 权限 / 事件 / 工作区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057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22128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914"/>
                </a:solidFill>
                <a:latin typeface="Aptos Display"/>
              </a:rPr>
              <a:t>packages/adapters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306324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Claude CLI / Mock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057400"/>
            <a:ext cx="1783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21284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914"/>
                </a:solidFill>
                <a:latin typeface="Aptos Display"/>
              </a:rPr>
              <a:t>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30632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IPC DTO / 错误模型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0574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86416" y="221284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914"/>
                </a:solidFill>
                <a:latin typeface="Aptos Display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112" y="306324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正式主存储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2514600.0"/>
            <a:ext cx="41148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2514600.0"/>
            <a:ext cx="45720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3800" y="2514600.0"/>
            <a:ext cx="45720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84080" y="2514600.0"/>
            <a:ext cx="27432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4069080"/>
            <a:ext cx="10515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160520"/>
            <a:ext cx="10186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F43"/>
                </a:solidFill>
                <a:latin typeface="Aptos"/>
              </a:rPr>
              <a:t>架构判断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07408"/>
            <a:ext cx="10149840" cy="868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350">
                <a:solidFill>
                  <a:srgbClr val="201914"/>
                </a:solidFill>
                <a:latin typeface="Aptos"/>
              </a:rPr>
              <a:t>• 当前最重要的不是模块数量，而是 Desktop / Core / Adapters / Contracts 的边界已经成立</a:t>
            </a:r>
          </a:p>
          <a:p>
            <a:pPr algn="l"/>
            <a:r>
              <a:rPr sz="1350">
                <a:solidFill>
                  <a:srgbClr val="201914"/>
                </a:solidFill>
                <a:latin typeface="Aptos"/>
              </a:rPr>
              <a:t>• 未来 Web、API、Worker 已预留位置，但不会抢走当前桌面本地主链路的优先级</a:t>
            </a:r>
          </a:p>
          <a:p>
            <a:pPr algn="l"/>
            <a:r>
              <a:rPr sz="1350">
                <a:solidFill>
                  <a:srgbClr val="201914"/>
                </a:solidFill>
                <a:latin typeface="Aptos"/>
              </a:rPr>
              <a:t>• 这套结构足以支撑从 mock 走向真实 CLI，再走向更完整的恢复、回顾和多 adapter 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technical-architecture.md / module-contracts.md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3. 桌面端运行时架构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当前唯一完整运行路径：Renderer -&gt; Preload -&gt; Main -&gt; Adapter /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568AD"/>
                </a:solidFill>
                <a:latin typeface="Aptos Display"/>
              </a:rPr>
              <a:t>Renderer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63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React UI
任务输入 / 计划展示 / 时间线 / 回顾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92024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19456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56B17"/>
                </a:solidFill>
                <a:latin typeface="Aptos Display"/>
              </a:rPr>
              <a:t>Preload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3063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DesktopApi
只做安全桥和类型化暴露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920240"/>
            <a:ext cx="2011680" cy="1051560"/>
          </a:xfrm>
          <a:prstGeom prst="roundRect">
            <a:avLst/>
          </a:prstGeom>
          <a:solidFill>
            <a:srgbClr val="FFEFD5"/>
          </a:solidFill>
          <a:ln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19456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56B17"/>
                </a:solidFill>
                <a:latin typeface="Aptos Display"/>
              </a:rPr>
              <a:t>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3063240"/>
            <a:ext cx="1810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C4F43"/>
                </a:solidFill>
                <a:latin typeface="Aptos"/>
              </a:rPr>
              <a:t>DesktopController
任务编排 / IPC / 持久化 / 系统交互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6304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8E60"/>
                </a:solidFill>
                <a:latin typeface="Aptos Display"/>
              </a:rPr>
              <a:t>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4F43"/>
                </a:solidFill>
                <a:latin typeface="Aptos"/>
              </a:rPr>
              <a:t>Claude CLI
或 Mock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7889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568AD"/>
                </a:solidFill>
                <a:latin typeface="Aptos Display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65760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4F43"/>
                </a:solidFill>
                <a:latin typeface="Aptos"/>
              </a:rPr>
              <a:t>SQLite 主存储
JSON 导入兜底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210312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D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3774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C18"/>
                </a:solidFill>
                <a:latin typeface="Aptos Display"/>
              </a:rPr>
              <a:t>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2971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4F43"/>
                </a:solidFill>
                <a:latin typeface="Aptos"/>
              </a:rPr>
              <a:t>Shell / 文件 / Git
高风险能力入口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88920" y="2446020.0"/>
            <a:ext cx="36576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66360" y="2446020.0"/>
            <a:ext cx="36576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43800" y="2446020.0"/>
            <a:ext cx="2377440" cy="9144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543800" y="1897380.0"/>
            <a:ext cx="457200" cy="54864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43800" y="2446020.0"/>
            <a:ext cx="457200" cy="77724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75488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846320"/>
            <a:ext cx="10369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F43"/>
                </a:solidFill>
                <a:latin typeface="Aptos"/>
              </a:rPr>
              <a:t>关键约束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47488"/>
            <a:ext cx="10241280" cy="47548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400">
                <a:solidFill>
                  <a:srgbClr val="201914"/>
                </a:solidFill>
                <a:latin typeface="Aptos"/>
              </a:rPr>
              <a:t>• Renderer 不能直接碰 Node/Electron；业务编排不能下沉到 Preload；高风险能力必须由 Main 统一收口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desktop runtime code / DesktopController / DesktopApi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4. 核心领域模型与状态机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UI、持久化和执行都围绕同一组对象组织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880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880360" cy="347472"/>
          </a:xfrm>
          <a:prstGeom prst="roundRect">
            <a:avLst/>
          </a:prstGeom>
          <a:solidFill>
            <a:srgbClr val="35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核心对象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2606040" cy="16916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TaskSession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TaskPlan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ExecutionEvent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TaskReview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WorkspaceContext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PermissionPolicy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874519"/>
            <a:ext cx="1188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202082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68AD"/>
                </a:solidFill>
                <a:latin typeface="Aptos"/>
              </a:rPr>
              <a:t>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79" y="1874519"/>
            <a:ext cx="1188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399" y="202082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56B17"/>
                </a:solidFill>
                <a:latin typeface="Aptos"/>
              </a:rPr>
              <a:t>planned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19" y="1874519"/>
            <a:ext cx="1188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39" y="202082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D7C18"/>
                </a:solidFill>
                <a:latin typeface="Aptos"/>
              </a:rPr>
              <a:t>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1874519"/>
            <a:ext cx="1188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202082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8E60"/>
                </a:solidFill>
                <a:latin typeface="Aptos"/>
              </a:rPr>
              <a:t>running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799" y="1874519"/>
            <a:ext cx="11887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19" y="202082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3737"/>
                </a:solidFill>
                <a:latin typeface="Aptos"/>
              </a:rPr>
              <a:t>succeeded / failed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66359" y="2203703.0"/>
            <a:ext cx="27432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29399" y="2203703.0"/>
            <a:ext cx="27432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92439" y="2203703.0"/>
            <a:ext cx="27432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79" y="2203703.0"/>
            <a:ext cx="274320" cy="0.0"/>
          </a:xfrm>
          <a:prstGeom prst="line">
            <a:avLst/>
          </a:prstGeom>
          <a:ln w="19050">
            <a:solidFill>
              <a:srgbClr val="5C4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77639" y="28803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F43"/>
                </a:solidFill>
                <a:latin typeface="Aptos"/>
              </a:rPr>
              <a:t>TaskSession 固定流转：不允许跳过关键阶段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70332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77639" y="3703320"/>
            <a:ext cx="3520440" cy="347472"/>
          </a:xfrm>
          <a:prstGeom prst="roundRect">
            <a:avLst/>
          </a:prstGeom>
          <a:solidFill>
            <a:srgbClr val="388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ExecutionEvent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9" y="4142232"/>
            <a:ext cx="324612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terminal.output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file.change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summary.ready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tool.call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703320"/>
            <a:ext cx="33375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26679" y="3703320"/>
            <a:ext cx="3337560" cy="347472"/>
          </a:xfrm>
          <a:prstGeom prst="round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Permission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39" y="4142232"/>
            <a:ext cx="306324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shell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filesystem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network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packages/core/src/types.ts / taskSession.ts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5. 主执行链路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当前主链路已经贯通，但执行事件和控制粒度仍是下一阶段重点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057399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1914"/>
                </a:solidFill>
                <a:latin typeface="Aptos"/>
              </a:rPr>
              <a:t>1. 输入目标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441447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用户描述任务目标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74519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2057399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1914"/>
                </a:solidFill>
                <a:latin typeface="Aptos"/>
              </a:rPr>
              <a:t>2. 生成计划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441447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Adapter 返回结构化 TaskPlan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874519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4376" y="2057399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1914"/>
                </a:solidFill>
                <a:latin typeface="Aptos"/>
              </a:rPr>
              <a:t>3. 权限评估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441447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Main 计算风险与审批信息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874519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2057399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1914"/>
                </a:solidFill>
                <a:latin typeface="Aptos"/>
              </a:rPr>
              <a:t>4. 批准执行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441447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任务进入 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874519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2057399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1914"/>
                </a:solidFill>
                <a:latin typeface="Aptos"/>
              </a:rPr>
              <a:t>5. 回写事件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4936" y="2441447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4F43"/>
                </a:solidFill>
                <a:latin typeface="Aptos"/>
              </a:rPr>
              <a:t>事件、状态和 review 写回存储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14600" y="2583179.0"/>
            <a:ext cx="411480" cy="0.0"/>
          </a:xfrm>
          <a:prstGeom prst="line">
            <a:avLst/>
          </a:prstGeom>
          <a:ln w="19050">
            <a:solidFill>
              <a:srgbClr val="B56B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2583179.0"/>
            <a:ext cx="411480" cy="0.0"/>
          </a:xfrm>
          <a:prstGeom prst="line">
            <a:avLst/>
          </a:prstGeom>
          <a:ln w="19050">
            <a:solidFill>
              <a:srgbClr val="B56B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95160" y="2583179.0"/>
            <a:ext cx="411480" cy="0.0"/>
          </a:xfrm>
          <a:prstGeom prst="line">
            <a:avLst/>
          </a:prstGeom>
          <a:ln w="19050">
            <a:solidFill>
              <a:srgbClr val="B56B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40" y="2583179.0"/>
            <a:ext cx="411480" cy="0.0"/>
          </a:xfrm>
          <a:prstGeom prst="line">
            <a:avLst/>
          </a:prstGeom>
          <a:ln w="19050">
            <a:solidFill>
              <a:srgbClr val="B56B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3977639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069079"/>
            <a:ext cx="10643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F43"/>
                </a:solidFill>
                <a:latin typeface="Aptos"/>
              </a:rPr>
              <a:t>当前链路中的 4 个刻意简化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315968"/>
            <a:ext cx="10561320" cy="7772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300">
                <a:solidFill>
                  <a:srgbClr val="201914"/>
                </a:solidFill>
                <a:latin typeface="Aptos"/>
              </a:rPr>
              <a:t>• 批准仍然是任务级整体批准，不是逐 capability 授权</a:t>
            </a:r>
          </a:p>
          <a:p>
            <a:pPr algn="l"/>
            <a:r>
              <a:rPr sz="1300">
                <a:solidFill>
                  <a:srgbClr val="201914"/>
                </a:solidFill>
                <a:latin typeface="Aptos"/>
              </a:rPr>
              <a:t>• 执行事件一次性返回，不是流式推送</a:t>
            </a:r>
          </a:p>
          <a:p>
            <a:pPr algn="l"/>
            <a:r>
              <a:rPr sz="1300">
                <a:solidFill>
                  <a:srgbClr val="201914"/>
                </a:solidFill>
                <a:latin typeface="Aptos"/>
              </a:rPr>
              <a:t>• 真实 CLI 尚未稳定产出 file.change / tool.call</a:t>
            </a:r>
          </a:p>
          <a:p>
            <a:pPr algn="l"/>
            <a:r>
              <a:rPr sz="1300">
                <a:solidFill>
                  <a:srgbClr val="201914"/>
                </a:solidFill>
                <a:latin typeface="Aptos"/>
              </a:rPr>
              <a:t>• 取消、恢复、重试还没有完整产品化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DesktopController / ClaudeCodeCliAdapter / detailed-architecture.md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6. 当前已落地能力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这页回答：哪些东西已经不是概念，而是代码里真实存在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66160" cy="347472"/>
          </a:xfrm>
          <a:prstGeom prst="roundRect">
            <a:avLst/>
          </a:prstGeom>
          <a:solidFill>
            <a:srgbClr val="388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已经落地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3291840" cy="3794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Electron + React + TypeScript 桌面壳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Main / Preload / Renderer 分层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TaskSession 状态机与事件模型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DesktopApi 与 IPC 契约层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Claude CLI + Mock 双 adapter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SQLite 主存储与 JSON 自动导入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lint / test / typecheck / build / smoke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429000" cy="347472"/>
          </a:xfrm>
          <a:prstGeom prst="roundRect">
            <a:avLst/>
          </a:prstGeom>
          <a:solidFill>
            <a:srgbClr val="35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已经证明可行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856232"/>
            <a:ext cx="3154680" cy="3794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可以本地启动桌面工作台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可以基于真实 CLI 生成结构化计划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可以审批后执行一轮端到端任务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可以把任务、事件、历史写入正式存储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可以通过统一状态快照驱动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154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154680" cy="347472"/>
          </a:xfrm>
          <a:prstGeom prst="roundRect">
            <a:avLst/>
          </a:prstGeom>
          <a:solidFill>
            <a:srgbClr val="B56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当前价值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56232"/>
            <a:ext cx="2880360" cy="3794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已具备继续迭代的稳定骨架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已从纯 mock 进入真实执行验证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后续重点不再是“从 0 建壳”，而是补强能力深度和可用性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README / package.json / current repository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7. 主要缺口与风险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这页回答：为什么现在还不能把它当成成熟 Beta 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347472"/>
          </a:xfrm>
          <a:prstGeom prst="round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执行可见性不足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3200400" cy="132587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真实 CLI 仍缺少流式事件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文件变化与工具调用证据不足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Review 面板证据链偏弱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74720" cy="347472"/>
          </a:xfrm>
          <a:prstGeom prst="roundRect">
            <a:avLst/>
          </a:prstGeom>
          <a:solidFill>
            <a:srgbClr val="CD7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控制粒度不足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56232"/>
            <a:ext cx="3200400" cy="132587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权限还是任务级整体批准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缺少取消、恢复、失败重试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工作区级授权范围未完成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154680" cy="347472"/>
          </a:xfrm>
          <a:prstGeom prst="roundRect">
            <a:avLst/>
          </a:prstGeom>
          <a:solidFill>
            <a:srgbClr val="35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产品完成度不足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56232"/>
            <a:ext cx="2880360" cy="132587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工作区管理偏基础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多 adapter 策略还较初级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安装、更新、反馈闭环仍需打磨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105613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794760"/>
            <a:ext cx="10232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F43"/>
                </a:solidFill>
                <a:latin typeface="Aptos"/>
              </a:rPr>
              <a:t>研发含义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23360"/>
            <a:ext cx="1014984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320">
                <a:solidFill>
                  <a:srgbClr val="201914"/>
                </a:solidFill>
                <a:latin typeface="Aptos"/>
              </a:rPr>
              <a:t>• 下一阶段重点不应再扩散到新平台，而是把桌面本地主链路做深、做稳、做得可诊断</a:t>
            </a:r>
          </a:p>
          <a:p>
            <a:pPr algn="l"/>
            <a:r>
              <a:rPr sz="1320">
                <a:solidFill>
                  <a:srgbClr val="201914"/>
                </a:solidFill>
                <a:latin typeface="Aptos"/>
              </a:rPr>
              <a:t>• 如果过早转向 Web / API / Worker，会放大当前执行链路尚未稳定的风险</a:t>
            </a:r>
          </a:p>
          <a:p>
            <a:pPr algn="l"/>
            <a:r>
              <a:rPr sz="1320">
                <a:solidFill>
                  <a:srgbClr val="201914"/>
                </a:solidFill>
                <a:latin typeface="Aptos"/>
              </a:rPr>
              <a:t>• 当前更适合内部持续验证和定向试用，不适合被表述成“功能已完整”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Source: v1-backlog.md / roadmap-and-milestones.md / detailed-architecture.md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8. 下一阶段建议路线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按“先补真实可用，再谈平台扩展”的顺序推进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1737360"/>
            <a:ext cx="713232" cy="713232"/>
          </a:xfrm>
          <a:prstGeom prst="ellipse">
            <a:avLst/>
          </a:prstGeom>
          <a:solidFill>
            <a:srgbClr val="388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17520"/>
            <a:ext cx="1517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1">
                <a:solidFill>
                  <a:srgbClr val="201914"/>
                </a:solidFill>
                <a:latin typeface="Aptos"/>
              </a:rPr>
              <a:t>补强真实 CLI 事件能力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82496.0" y="2450592"/>
            <a:ext cx="9144.0" cy="292608"/>
          </a:xfrm>
          <a:prstGeom prst="line">
            <a:avLst/>
          </a:prstGeom>
          <a:ln w="19050">
            <a:solidFill>
              <a:srgbClr val="388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76272" y="2084831"/>
            <a:ext cx="795528" cy="0"/>
          </a:xfrm>
          <a:prstGeom prst="line">
            <a:avLst/>
          </a:prstGeom>
          <a:ln w="19050">
            <a:solidFill>
              <a:srgbClr val="DED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66160" y="1737360"/>
            <a:ext cx="713232" cy="713232"/>
          </a:xfrm>
          <a:prstGeom prst="ellipse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74320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3017520"/>
            <a:ext cx="1517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1">
                <a:solidFill>
                  <a:srgbClr val="201914"/>
                </a:solidFill>
                <a:latin typeface="Aptos"/>
              </a:rPr>
              <a:t>把权限从展示升级为真正控制点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22776.0" y="2450592"/>
            <a:ext cx="9144.0" cy="292608"/>
          </a:xfrm>
          <a:prstGeom prst="line">
            <a:avLst/>
          </a:prstGeom>
          <a:ln w="19050">
            <a:solidFill>
              <a:srgbClr val="B0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16552" y="2084831"/>
            <a:ext cx="795528" cy="0"/>
          </a:xfrm>
          <a:prstGeom prst="line">
            <a:avLst/>
          </a:prstGeom>
          <a:ln w="19050">
            <a:solidFill>
              <a:srgbClr val="DED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806440" y="1737360"/>
            <a:ext cx="713232" cy="713232"/>
          </a:xfrm>
          <a:prstGeom prst="ellipse">
            <a:avLst/>
          </a:prstGeom>
          <a:solidFill>
            <a:srgbClr val="CD7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74320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3017520"/>
            <a:ext cx="1517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1">
                <a:solidFill>
                  <a:srgbClr val="201914"/>
                </a:solidFill>
                <a:latin typeface="Aptos"/>
              </a:rPr>
              <a:t>补取消 / 恢复 / 失败重试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63056.0" y="2450592"/>
            <a:ext cx="9144.0" cy="292608"/>
          </a:xfrm>
          <a:prstGeom prst="line">
            <a:avLst/>
          </a:prstGeom>
          <a:ln w="19050">
            <a:solidFill>
              <a:srgbClr val="CD7C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56832" y="2084831"/>
            <a:ext cx="795528" cy="0"/>
          </a:xfrm>
          <a:prstGeom prst="line">
            <a:avLst/>
          </a:prstGeom>
          <a:ln w="19050">
            <a:solidFill>
              <a:srgbClr val="DED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6720" y="1737360"/>
            <a:ext cx="713232" cy="713232"/>
          </a:xfrm>
          <a:prstGeom prst="ellipse">
            <a:avLst/>
          </a:prstGeom>
          <a:solidFill>
            <a:srgbClr val="35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74320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8" y="3017520"/>
            <a:ext cx="1517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1">
                <a:solidFill>
                  <a:srgbClr val="201914"/>
                </a:solidFill>
                <a:latin typeface="Aptos"/>
              </a:rPr>
              <a:t>增强工作区管理与 Review 证据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03336.0" y="2450592"/>
            <a:ext cx="9144.0" cy="292608"/>
          </a:xfrm>
          <a:prstGeom prst="line">
            <a:avLst/>
          </a:prstGeom>
          <a:ln w="19050">
            <a:solidFill>
              <a:srgbClr val="35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97112" y="2084831"/>
            <a:ext cx="795528" cy="0"/>
          </a:xfrm>
          <a:prstGeom prst="line">
            <a:avLst/>
          </a:prstGeom>
          <a:ln w="19050">
            <a:solidFill>
              <a:srgbClr val="DED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87000" y="1737360"/>
            <a:ext cx="713232" cy="713232"/>
          </a:xfrm>
          <a:prstGeom prst="ellipse">
            <a:avLst/>
          </a:prstGeom>
          <a:solidFill>
            <a:srgbClr val="B56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743200"/>
            <a:ext cx="1737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8" y="3017520"/>
            <a:ext cx="1517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" b="1">
                <a:solidFill>
                  <a:srgbClr val="201914"/>
                </a:solidFill>
                <a:latin typeface="Aptos"/>
              </a:rPr>
              <a:t>再扩到 Web / API / Worker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43616.0" y="2450592"/>
            <a:ext cx="9144.0" cy="292608"/>
          </a:xfrm>
          <a:prstGeom prst="line">
            <a:avLst/>
          </a:prstGeom>
          <a:ln w="19050">
            <a:solidFill>
              <a:srgbClr val="B56B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8680" y="4754880"/>
            <a:ext cx="10287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9957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4F43"/>
                </a:solidFill>
                <a:latin typeface="Aptos"/>
              </a:rPr>
              <a:t>推进原则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0176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4F43"/>
                </a:solidFill>
                <a:latin typeface="Aptos"/>
              </a:rPr>
              <a:t>先让桌面本地执行闭环变深、变稳、变得可恢复，再考虑平台扩展和更多运行形态。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Recommendation: prioritize M2-quality depth over scope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1914"/>
                </a:solidFill>
                <a:latin typeface="Aptos Display"/>
              </a:rPr>
              <a:t>附录：关键目录与文档入口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4F43"/>
                </a:solidFill>
                <a:latin typeface="Aptos"/>
              </a:rPr>
              <a:t>需要继续跟进的人，建议从这几处开始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749039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6B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749039" cy="347472"/>
          </a:xfrm>
          <a:prstGeom prst="roundRect">
            <a:avLst/>
          </a:prstGeom>
          <a:solidFill>
            <a:srgbClr val="B56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关键代码目录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3474719" cy="3794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apps/desktop/src/main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apps/desktop/src/preload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apps/desktop/src/renderer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packages/core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packages/adapters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packages/contracts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apps/desktop/src/main/persistence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1417320"/>
            <a:ext cx="3154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1417320"/>
            <a:ext cx="3154680" cy="347472"/>
          </a:xfrm>
          <a:prstGeom prst="roundRect">
            <a:avLst/>
          </a:prstGeom>
          <a:solidFill>
            <a:srgbClr val="35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关键文档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856232"/>
            <a:ext cx="2880360" cy="3794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docs/product/prd.md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docs/product/v1-backlog.md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docs/engineering/technical-architecture.md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docs/engineering/detailed-architecture.md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docs/engineering/module-contracts.md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docs/engineering/storage-and-security.md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417320"/>
            <a:ext cx="3154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1" y="1417320"/>
            <a:ext cx="3154680" cy="347472"/>
          </a:xfrm>
          <a:prstGeom prst="roundRect">
            <a:avLst/>
          </a:prstGeom>
          <a:solidFill>
            <a:srgbClr val="388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建议会后动作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1" y="1856232"/>
            <a:ext cx="2880360" cy="3794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确认下一阶段唯一主问题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锁定 CLI 事件补强范围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拆权限控制增强方案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定义恢复 / 重试的验收标准</a:t>
            </a:r>
          </a:p>
          <a:p>
            <a:pPr algn="l"/>
            <a:r>
              <a:rPr sz="1150">
                <a:solidFill>
                  <a:srgbClr val="201914"/>
                </a:solidFill>
                <a:latin typeface="Aptos"/>
              </a:rPr>
              <a:t>• 安排一次架构评审复盘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4F43"/>
                </a:solidFill>
                <a:latin typeface="Aptos"/>
              </a:rPr>
              <a:t>Generated locally with python-pptx for editable PowerPoint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